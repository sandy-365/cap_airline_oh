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60" r:id="rId5"/>
    <p:sldId id="258" r:id="rId6"/>
    <p:sldId id="262" r:id="rId7"/>
    <p:sldId id="261" r:id="rId8"/>
    <p:sldId id="259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E32BD-28CD-1D93-4464-68E57DE4E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6D13B-670D-CA6D-30A8-D50FB8DBB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54914-8841-2458-A08D-FA2BAC722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A735-111B-41A7-BB6A-2E504CF1DEB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A8E93-784D-C776-E735-6EA38A0C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74445-6EC0-34D2-2B61-91208D5D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52BC-6C4A-4448-941F-51F7D8285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3CBF5-3D43-45B1-0C5B-71117CF15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7C98E-4466-C023-E434-59A863FD7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C0D6F-4919-BCD2-CC4A-A62F401C6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A735-111B-41A7-BB6A-2E504CF1DEB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31F0E-242C-BC96-A0DC-423A9E3F0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BBA19-8FE8-10FA-56C3-58F27EC74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52BC-6C4A-4448-941F-51F7D8285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379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EAD32-920A-13F1-3440-1738604C3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C5CB8-9D71-AB48-C67C-DCF076CBD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5A460-ACD4-8F4F-6B55-E50D1DD4A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A735-111B-41A7-BB6A-2E504CF1DEB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23465-89F8-AF92-991D-C1081B0A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CE9E4-6520-47EC-2DDB-A0C9CF4E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52BC-6C4A-4448-941F-51F7D8285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46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EE53-2540-EC32-358D-0F17C8DD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DA253-FA4A-DA36-1AF6-0BF10B81C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BA93C-24B8-6642-6D0C-1D684F735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B427D-C66C-4675-F2FD-D4103E2AF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A735-111B-41A7-BB6A-2E504CF1DEB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DA7B6-85DB-97B6-ACA6-561DB70DB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8F9E8-9265-4D7F-DA12-091BBAE9C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52BC-6C4A-4448-941F-51F7D8285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90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BD350-4B86-39E7-2218-13C03163B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6EE2-D839-B80C-8B7A-3FB84C521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49F715-8A71-CB7C-9321-E37D94422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8E9F3C-128F-0492-1799-7E1A56943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1EC5D-819B-C79C-9D16-1E077E7F85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322696-C55C-84C7-D6D3-CCA652D9B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A735-111B-41A7-BB6A-2E504CF1DEB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5B03B4-26D4-125E-7A2B-8812AF04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90E249-7AC3-9FA0-0B0B-461D0558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52BC-6C4A-4448-941F-51F7D8285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87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C92BE-D1DE-81D8-4D31-3135E7F90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9F967-153C-3248-EE61-CC1CB4957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A735-111B-41A7-BB6A-2E504CF1DEB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133BE-94B6-747B-DA76-642804DA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0C265-ED74-7E58-00D2-D84C59E6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52BC-6C4A-4448-941F-51F7D8285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397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BE1F7-4291-52B1-5778-C84C78E72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A735-111B-41A7-BB6A-2E504CF1DEB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CEAFC-214D-F0F0-5257-F32FFA52A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7EAB3-9651-8F84-CD9B-C3488196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52BC-6C4A-4448-941F-51F7D8285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124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B8A1B-F076-FEC1-F872-D08933B0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946DE-7C58-CB63-82BB-66DF7BD64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92550-96E8-2350-7C7A-4EA2E74C8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4AE66-5126-02E6-A1D9-63EC8FDF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A735-111B-41A7-BB6A-2E504CF1DEB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7A1A1-1191-37F9-8A82-ECBAD0B1D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0C195-1A2F-7CD9-64D7-71DCC4EDE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52BC-6C4A-4448-941F-51F7D8285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615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3B3D-32D7-F780-E0ED-061685BF5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A40EFB-9C4D-08A3-52B8-7DA69969B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E14E3-0360-EE47-E50E-5B6D39EA9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D81BE-6EBF-7B72-354E-846A1CD5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A735-111B-41A7-BB6A-2E504CF1DEB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5F4A5-0D06-68EB-DA05-3F9A09E4C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228B0-8649-E704-5BC5-5C5577D0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52BC-6C4A-4448-941F-51F7D8285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305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B4192-52F8-9908-4C7C-D6523E332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10A6E-7384-7A7C-0596-56F3D6BB9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29702-E432-7783-DFA0-EF81A4AA1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A735-111B-41A7-BB6A-2E504CF1DEB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B5100-89E8-C0C1-411F-9D952149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40471-78F4-6853-4FD7-AE11118D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52BC-6C4A-4448-941F-51F7D8285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393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8E2C2B-2553-D561-E1FA-13B3A609B9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63F60-D0DB-E82D-8A24-F9A094621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F0193-1CC1-E7B0-2DC4-52D10082C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A735-111B-41A7-BB6A-2E504CF1DEB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3E407-542C-6090-0647-D91CE4E85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563B0-A9A8-C942-1442-8D27D651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152BC-6C4A-4448-941F-51F7D8285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696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BB797A-9C57-6264-3D12-1BCC70520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994A3-EAD1-D7F7-F4B8-B1E41360E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84C86-745B-DF46-18A0-DEF322994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4A735-111B-41A7-BB6A-2E504CF1DEB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5DAFF-26E1-FFCC-1B83-1E5162588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A1377-D0D8-E784-E93B-0CF5F2BC0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152BC-6C4A-4448-941F-51F7D8285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690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27150F-90D2-AF17-6C17-FDBCAC7326D4}"/>
              </a:ext>
            </a:extLst>
          </p:cNvPr>
          <p:cNvSpPr txBox="1"/>
          <p:nvPr/>
        </p:nvSpPr>
        <p:spPr>
          <a:xfrm>
            <a:off x="2314035" y="2218918"/>
            <a:ext cx="78392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MANAGEMENT SYSTEM</a:t>
            </a:r>
            <a:endParaRPr lang="en-US" sz="5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629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971D6A-1B00-F276-C1BC-5E7CEE77A5C0}"/>
              </a:ext>
            </a:extLst>
          </p:cNvPr>
          <p:cNvSpPr txBox="1"/>
          <p:nvPr/>
        </p:nvSpPr>
        <p:spPr>
          <a:xfrm>
            <a:off x="664234" y="508959"/>
            <a:ext cx="1092966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IN" sz="3200" b="1" i="0" dirty="0">
                <a:solidFill>
                  <a:srgbClr val="1F2328"/>
                </a:solidFill>
                <a:effectLst/>
                <a:latin typeface="-apple-system"/>
              </a:rPr>
              <a:t>The Business Problem</a:t>
            </a:r>
          </a:p>
          <a:p>
            <a:pPr indent="0" algn="ctr">
              <a:buNone/>
            </a:pPr>
            <a:endParaRPr lang="en-IN" sz="3200" b="1" i="0" dirty="0">
              <a:solidFill>
                <a:srgbClr val="1F2328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2000" b="0" i="0" dirty="0">
                <a:solidFill>
                  <a:srgbClr val="1F2328"/>
                </a:solidFill>
                <a:effectLst/>
                <a:latin typeface="-apple-system"/>
              </a:rPr>
              <a:t>Traditional airline reservation and operations systems often suffer from monolithic architectures with high coupling, leading to:</a:t>
            </a:r>
          </a:p>
          <a:p>
            <a:pPr indent="0" algn="l">
              <a:buNone/>
            </a:pPr>
            <a:endParaRPr lang="en-IN" sz="20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1F2328"/>
                </a:solidFill>
                <a:effectLst/>
                <a:latin typeface="-apple-system"/>
              </a:rPr>
              <a:t>Frequent operational bottlenecks between passenger ticketing, ground operations, and </a:t>
            </a:r>
            <a:r>
              <a:rPr lang="en-IN" sz="2000" b="0" i="0" dirty="0" err="1">
                <a:solidFill>
                  <a:srgbClr val="1F2328"/>
                </a:solidFill>
                <a:effectLst/>
                <a:latin typeface="-apple-system"/>
              </a:rPr>
              <a:t>backoffice</a:t>
            </a:r>
            <a:r>
              <a:rPr lang="en-IN" sz="2000" b="0" i="0" dirty="0">
                <a:solidFill>
                  <a:srgbClr val="1F2328"/>
                </a:solidFill>
                <a:effectLst/>
                <a:latin typeface="-apple-system"/>
              </a:rPr>
              <a:t> administration.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IN" sz="20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1F2328"/>
                </a:solidFill>
                <a:effectLst/>
                <a:latin typeface="-apple-system"/>
              </a:rPr>
              <a:t>Single points of failure where a failure in payments or reporting crashes the booking system.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IN" sz="20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1F2328"/>
                </a:solidFill>
                <a:effectLst/>
                <a:latin typeface="-apple-system"/>
              </a:rPr>
              <a:t>High latency during flash sales or heavy passenger check-in traffic.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IN" sz="20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1F2328"/>
                </a:solidFill>
                <a:effectLst/>
                <a:latin typeface="-apple-system"/>
              </a:rPr>
              <a:t>Complex user management where internal airline staff (crew, ground handlers, HR, financial analysts, ticket dealers) lack isolated, role-specific portals and security boundaries.</a:t>
            </a:r>
          </a:p>
        </p:txBody>
      </p:sp>
    </p:spTree>
    <p:extLst>
      <p:ext uri="{BB962C8B-B14F-4D97-AF65-F5344CB8AC3E}">
        <p14:creationId xmlns:p14="http://schemas.microsoft.com/office/powerpoint/2010/main" val="1530762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85E3550-F367-1339-F290-FE229BC389CE}"/>
              </a:ext>
            </a:extLst>
          </p:cNvPr>
          <p:cNvSpPr/>
          <p:nvPr/>
        </p:nvSpPr>
        <p:spPr>
          <a:xfrm>
            <a:off x="1059180" y="325845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Solution</a:t>
            </a:r>
            <a:endParaRPr lang="en-US" sz="3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3C719B3-12F8-A9CA-647D-E52E136CF3F6}"/>
              </a:ext>
            </a:extLst>
          </p:cNvPr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7463A36-712B-957E-0935-AB3AA8BC5C5E}"/>
              </a:ext>
            </a:extLst>
          </p:cNvPr>
          <p:cNvSpPr/>
          <p:nvPr/>
        </p:nvSpPr>
        <p:spPr>
          <a:xfrm>
            <a:off x="1173480" y="2663667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&amp; Travel Agents</a:t>
            </a:r>
            <a:endParaRPr lang="en-US" sz="16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462B7A5C-8396-162F-FBA5-781EAAD39A82}"/>
              </a:ext>
            </a:extLst>
          </p:cNvPr>
          <p:cNvSpPr/>
          <p:nvPr/>
        </p:nvSpPr>
        <p:spPr>
          <a:xfrm>
            <a:off x="960120" y="292608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flight search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 </a:t>
            </a: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Instant booking with automated PNR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Razorpay payment processing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Digital check-in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companion passenger profiles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926DD7B1-8DB8-5786-53CE-2A944243D5A9}"/>
              </a:ext>
            </a:extLst>
          </p:cNvPr>
          <p:cNvSpPr/>
          <p:nvPr/>
        </p:nvSpPr>
        <p:spPr>
          <a:xfrm>
            <a:off x="644652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E5D41643-4B41-20B3-D088-774D4A7EC7BB}"/>
              </a:ext>
            </a:extLst>
          </p:cNvPr>
          <p:cNvSpPr/>
          <p:nvPr/>
        </p:nvSpPr>
        <p:spPr>
          <a:xfrm>
            <a:off x="6377940" y="2667477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 Staff &amp; Executives</a:t>
            </a:r>
            <a:endParaRPr lang="en-US" sz="16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DA322D84-BF96-7FD3-ABAB-643E7E33D960}"/>
              </a:ext>
            </a:extLst>
          </p:cNvPr>
          <p:cNvSpPr/>
          <p:nvPr/>
        </p:nvSpPr>
        <p:spPr>
          <a:xfrm>
            <a:off x="6446520" y="292608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RBAC administration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SuperAdmins, HR, Financial Admins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Staff &amp; Station Managers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flight scheduling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inventory &amp; manifest tracking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reporting &amp; audit trails</a:t>
            </a:r>
            <a:endParaRPr lang="en-US" sz="13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D08747-9484-E7AE-8BD3-60F7D5FD1A24}"/>
              </a:ext>
            </a:extLst>
          </p:cNvPr>
          <p:cNvSpPr txBox="1"/>
          <p:nvPr/>
        </p:nvSpPr>
        <p:spPr>
          <a:xfrm>
            <a:off x="440369" y="1130517"/>
            <a:ext cx="113112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 </a:t>
            </a:r>
            <a:r>
              <a:rPr lang="en-IN" b="1" dirty="0"/>
              <a:t>Airline Management System</a:t>
            </a:r>
            <a:r>
              <a:rPr lang="en-IN" dirty="0"/>
              <a:t> is a next-generation, cloud-ready, microservices-driven enterprise platform engineered to modernize end-to-end airline operations.</a:t>
            </a:r>
          </a:p>
          <a:p>
            <a:endParaRPr lang="en-IN" dirty="0"/>
          </a:p>
          <a:p>
            <a:r>
              <a:rPr lang="en-IN" dirty="0"/>
              <a:t>It provides an integrated ecosystem serving two distinct user demographics: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04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669C8F6-9F07-07C7-EC67-73301653A2BD}"/>
              </a:ext>
            </a:extLst>
          </p:cNvPr>
          <p:cNvSpPr/>
          <p:nvPr/>
        </p:nvSpPr>
        <p:spPr>
          <a:xfrm>
            <a:off x="15773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57C91A9-EC54-A020-E879-96258F7343AA}"/>
              </a:ext>
            </a:extLst>
          </p:cNvPr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5AEF0F2-6834-EAC9-3351-EE485E2F3D40}"/>
              </a:ext>
            </a:extLst>
          </p:cNvPr>
          <p:cNvSpPr/>
          <p:nvPr/>
        </p:nvSpPr>
        <p:spPr>
          <a:xfrm>
            <a:off x="662940" y="1508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  <a:effectLst>
            <a:outerShdw blurRad="63500" dist="25400" dir="5400000" algn="bl" rotWithShape="0">
              <a:srgbClr val="9AAFD1">
                <a:alpha val="30000"/>
              </a:srgbClr>
            </a:outerShdw>
          </a:effectLst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5526D71-BA20-19F1-D98A-7C7696316E97}"/>
              </a:ext>
            </a:extLst>
          </p:cNvPr>
          <p:cNvSpPr/>
          <p:nvPr/>
        </p:nvSpPr>
        <p:spPr>
          <a:xfrm>
            <a:off x="827532" y="16459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Framework</a:t>
            </a:r>
            <a:endParaRPr lang="en-US" sz="125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FAD7BE82-A5DA-C330-57B2-872EFE8DA510}"/>
              </a:ext>
            </a:extLst>
          </p:cNvPr>
          <p:cNvSpPr/>
          <p:nvPr/>
        </p:nvSpPr>
        <p:spPr>
          <a:xfrm>
            <a:off x="827532" y="2167128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</a:t>
            </a:r>
            <a:endParaRPr lang="en-US" sz="1050" dirty="0"/>
          </a:p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13</a:t>
            </a:r>
            <a:endParaRPr lang="en-US" sz="1050" dirty="0"/>
          </a:p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05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76FD40D1-944C-AC97-60BE-9121083A7AD8}"/>
              </a:ext>
            </a:extLst>
          </p:cNvPr>
          <p:cNvSpPr/>
          <p:nvPr/>
        </p:nvSpPr>
        <p:spPr>
          <a:xfrm>
            <a:off x="3415284" y="1508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  <a:effectLst>
            <a:outerShdw blurRad="63500" dist="25400" dir="5400000" algn="bl" rotWithShape="0">
              <a:srgbClr val="9AAFD1">
                <a:alpha val="30000"/>
              </a:srgbClr>
            </a:outerShdw>
          </a:effectLst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CF8C8EC0-FC34-602A-A0DD-F8C6AEBC380C}"/>
              </a:ext>
            </a:extLst>
          </p:cNvPr>
          <p:cNvSpPr/>
          <p:nvPr/>
        </p:nvSpPr>
        <p:spPr>
          <a:xfrm>
            <a:off x="3579876" y="16459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ORM</a:t>
            </a:r>
            <a:endParaRPr lang="en-US" sz="125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92A38091-0791-DC57-AE70-DFEDEA6FA300}"/>
              </a:ext>
            </a:extLst>
          </p:cNvPr>
          <p:cNvSpPr/>
          <p:nvPr/>
        </p:nvSpPr>
        <p:spPr>
          <a:xfrm>
            <a:off x="3579876" y="2167128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1050" dirty="0"/>
          </a:p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10</a:t>
            </a:r>
            <a:endParaRPr lang="en-US" sz="1050" dirty="0"/>
          </a:p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Migrations</a:t>
            </a:r>
            <a:endParaRPr lang="en-US" sz="105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B421AA53-7723-ED17-8332-C6490A3927A8}"/>
              </a:ext>
            </a:extLst>
          </p:cNvPr>
          <p:cNvSpPr/>
          <p:nvPr/>
        </p:nvSpPr>
        <p:spPr>
          <a:xfrm>
            <a:off x="6167628" y="1508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  <a:effectLst>
            <a:outerShdw blurRad="63500" dist="25400" dir="5400000" algn="bl" rotWithShape="0">
              <a:srgbClr val="9AAFD1">
                <a:alpha val="3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D388C8C6-3373-906E-049E-D5A90B42735E}"/>
              </a:ext>
            </a:extLst>
          </p:cNvPr>
          <p:cNvSpPr/>
          <p:nvPr/>
        </p:nvSpPr>
        <p:spPr>
          <a:xfrm>
            <a:off x="6332220" y="16459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&amp; Routing</a:t>
            </a:r>
            <a:endParaRPr lang="en-US" sz="125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D78388F5-0B00-A23E-55D8-A99673B68F26}"/>
              </a:ext>
            </a:extLst>
          </p:cNvPr>
          <p:cNvSpPr/>
          <p:nvPr/>
        </p:nvSpPr>
        <p:spPr>
          <a:xfrm>
            <a:off x="6332220" y="2167128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Api Gateway</a:t>
            </a:r>
            <a:endParaRPr lang="en-US" sz="1050" dirty="0"/>
          </a:p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105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A5898FD3-C6EA-B23D-9820-F3F376088F78}"/>
              </a:ext>
            </a:extLst>
          </p:cNvPr>
          <p:cNvSpPr/>
          <p:nvPr/>
        </p:nvSpPr>
        <p:spPr>
          <a:xfrm>
            <a:off x="8919972" y="1508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  <a:effectLst>
            <a:outerShdw blurRad="63500" dist="25400" dir="5400000" algn="bl" rotWithShape="0">
              <a:srgbClr val="9AAFD1">
                <a:alpha val="30000"/>
              </a:srgbClr>
            </a:outerShdw>
          </a:effectLst>
        </p:spPr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6D08D329-9E5C-B16E-B44D-F1CD05F2FE5F}"/>
              </a:ext>
            </a:extLst>
          </p:cNvPr>
          <p:cNvSpPr/>
          <p:nvPr/>
        </p:nvSpPr>
        <p:spPr>
          <a:xfrm>
            <a:off x="9084564" y="164592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</a:t>
            </a:r>
            <a:endParaRPr lang="en-US" sz="125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97118666-5E3B-A380-9858-A357094D786A}"/>
              </a:ext>
            </a:extLst>
          </p:cNvPr>
          <p:cNvSpPr/>
          <p:nvPr/>
        </p:nvSpPr>
        <p:spPr>
          <a:xfrm>
            <a:off x="9084564" y="2167128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Tokens</a:t>
            </a:r>
          </a:p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05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A4B19DFA-2B69-6594-5461-EEFC8056DF88}"/>
              </a:ext>
            </a:extLst>
          </p:cNvPr>
          <p:cNvSpPr/>
          <p:nvPr/>
        </p:nvSpPr>
        <p:spPr>
          <a:xfrm>
            <a:off x="1965960" y="38404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  <a:effectLst>
            <a:outerShdw blurRad="63500" dist="25400" dir="5400000" algn="bl" rotWithShape="0">
              <a:srgbClr val="9AAFD1">
                <a:alpha val="30000"/>
              </a:srgbClr>
            </a:outerShdw>
          </a:effectLst>
        </p:spPr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99648504-F894-89C5-C185-201B879DA761}"/>
              </a:ext>
            </a:extLst>
          </p:cNvPr>
          <p:cNvSpPr/>
          <p:nvPr/>
        </p:nvSpPr>
        <p:spPr>
          <a:xfrm>
            <a:off x="2130552" y="397764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25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ECE9BD83-54A1-BA6B-E069-75BF65B51410}"/>
              </a:ext>
            </a:extLst>
          </p:cNvPr>
          <p:cNvSpPr/>
          <p:nvPr/>
        </p:nvSpPr>
        <p:spPr>
          <a:xfrm>
            <a:off x="2130552" y="4498848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</a:t>
            </a:r>
            <a:endParaRPr lang="en-US" sz="105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1B9F48A6-75B4-FD1B-9AA7-7F33593DB6B8}"/>
              </a:ext>
            </a:extLst>
          </p:cNvPr>
          <p:cNvSpPr/>
          <p:nvPr/>
        </p:nvSpPr>
        <p:spPr>
          <a:xfrm>
            <a:off x="4846320" y="38404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  <a:effectLst>
            <a:outerShdw blurRad="63500" dist="25400" dir="5400000" algn="bl" rotWithShape="0">
              <a:srgbClr val="9AAFD1">
                <a:alpha val="30000"/>
              </a:srgbClr>
            </a:outerShdw>
          </a:effectLst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0A5282E1-9BD7-AC70-EF52-6D51F8BC42F4}"/>
              </a:ext>
            </a:extLst>
          </p:cNvPr>
          <p:cNvSpPr/>
          <p:nvPr/>
        </p:nvSpPr>
        <p:spPr>
          <a:xfrm>
            <a:off x="5010912" y="397764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5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746DB04A-F412-E1E2-8873-891BE87DC391}"/>
              </a:ext>
            </a:extLst>
          </p:cNvPr>
          <p:cNvSpPr/>
          <p:nvPr/>
        </p:nvSpPr>
        <p:spPr>
          <a:xfrm>
            <a:off x="5010912" y="4498848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.NET SDK</a:t>
            </a:r>
            <a:endParaRPr lang="en-US" sz="1050" dirty="0"/>
          </a:p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Verification</a:t>
            </a:r>
            <a:endParaRPr lang="en-US" sz="105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83FB492E-5513-188B-2BBD-8AB7BB792C0E}"/>
              </a:ext>
            </a:extLst>
          </p:cNvPr>
          <p:cNvSpPr/>
          <p:nvPr/>
        </p:nvSpPr>
        <p:spPr>
          <a:xfrm>
            <a:off x="7616952" y="38404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  <a:effectLst>
            <a:outerShdw blurRad="63500" dist="25400" dir="5400000" algn="bl" rotWithShape="0">
              <a:srgbClr val="9AAFD1">
                <a:alpha val="30000"/>
              </a:srgbClr>
            </a:outerShdw>
          </a:effectLst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0526B59A-B68C-18D1-8152-C54A9D0AF88C}"/>
              </a:ext>
            </a:extLst>
          </p:cNvPr>
          <p:cNvSpPr/>
          <p:nvPr/>
        </p:nvSpPr>
        <p:spPr>
          <a:xfrm>
            <a:off x="7781544" y="397764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25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B75A6F01-D343-7C6D-BA76-309BAF7391B1}"/>
              </a:ext>
            </a:extLst>
          </p:cNvPr>
          <p:cNvSpPr/>
          <p:nvPr/>
        </p:nvSpPr>
        <p:spPr>
          <a:xfrm>
            <a:off x="7781544" y="4498848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</a:t>
            </a:r>
            <a:endParaRPr lang="en-US" sz="1050" dirty="0"/>
          </a:p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Moq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16021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746176D-5064-32A1-9212-D2B667516938}"/>
              </a:ext>
            </a:extLst>
          </p:cNvPr>
          <p:cNvSpPr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6FD4DD2-ED52-36CC-2B8B-AC1473395312}"/>
              </a:ext>
            </a:extLst>
          </p:cNvPr>
          <p:cNvSpPr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 with the Database-per-Service pattern for domain autonomy and zero cross-database locking.</a:t>
            </a:r>
            <a:endParaRPr lang="en-US" sz="12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844E42B4-B0F6-7940-679D-358D2BDCBD61}"/>
              </a:ext>
            </a:extLst>
          </p:cNvPr>
          <p:cNvSpPr/>
          <p:nvPr/>
        </p:nvSpPr>
        <p:spPr>
          <a:xfrm>
            <a:off x="973836" y="141732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310A358-D790-D1D0-1415-1B2EE3781EBC}"/>
              </a:ext>
            </a:extLst>
          </p:cNvPr>
          <p:cNvSpPr/>
          <p:nvPr/>
        </p:nvSpPr>
        <p:spPr>
          <a:xfrm>
            <a:off x="973836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Web Portal</a:t>
            </a:r>
            <a:endParaRPr lang="en-US" sz="115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974057E-8A18-44B8-5895-611CA93D2B48}"/>
              </a:ext>
            </a:extLst>
          </p:cNvPr>
          <p:cNvSpPr/>
          <p:nvPr/>
        </p:nvSpPr>
        <p:spPr>
          <a:xfrm>
            <a:off x="4494276" y="141732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F667A5A-9B9A-5329-A148-F08E0F1789A3}"/>
              </a:ext>
            </a:extLst>
          </p:cNvPr>
          <p:cNvSpPr/>
          <p:nvPr/>
        </p:nvSpPr>
        <p:spPr>
          <a:xfrm>
            <a:off x="4494276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 Admin Dashboard</a:t>
            </a:r>
            <a:endParaRPr lang="en-US" sz="115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02332EA4-C5E1-84EC-5BB6-7748649CE26A}"/>
              </a:ext>
            </a:extLst>
          </p:cNvPr>
          <p:cNvSpPr/>
          <p:nvPr/>
        </p:nvSpPr>
        <p:spPr>
          <a:xfrm>
            <a:off x="8014716" y="141732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E6475D47-B31A-2A5F-6797-C47903C06906}"/>
              </a:ext>
            </a:extLst>
          </p:cNvPr>
          <p:cNvSpPr/>
          <p:nvPr/>
        </p:nvSpPr>
        <p:spPr>
          <a:xfrm>
            <a:off x="8014716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Dealer Portal</a:t>
            </a:r>
            <a:endParaRPr lang="en-US" sz="115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4B26E2B2-925F-E57C-35B9-6EB846079E63}"/>
              </a:ext>
            </a:extLst>
          </p:cNvPr>
          <p:cNvSpPr/>
          <p:nvPr/>
        </p:nvSpPr>
        <p:spPr>
          <a:xfrm>
            <a:off x="6094476" y="1920240"/>
            <a:ext cx="0" cy="256032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8C9FA778-2CBA-3B3F-841B-46873368235B}"/>
              </a:ext>
            </a:extLst>
          </p:cNvPr>
          <p:cNvSpPr/>
          <p:nvPr/>
        </p:nvSpPr>
        <p:spPr>
          <a:xfrm>
            <a:off x="4023360" y="2176272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2A93B"/>
          </a:solidFill>
          <a:ln/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DB302A85-B632-E900-EA38-BAA1B4D7545D}"/>
              </a:ext>
            </a:extLst>
          </p:cNvPr>
          <p:cNvSpPr/>
          <p:nvPr/>
        </p:nvSpPr>
        <p:spPr>
          <a:xfrm>
            <a:off x="4023360" y="21762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•  Ocelot Reverse Proxy  •  Port 5000</a:t>
            </a:r>
            <a:endParaRPr lang="en-US" sz="115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597C3E70-8DFE-34E2-17CB-89A471B3BB6A}"/>
              </a:ext>
            </a:extLst>
          </p:cNvPr>
          <p:cNvSpPr/>
          <p:nvPr/>
        </p:nvSpPr>
        <p:spPr>
          <a:xfrm>
            <a:off x="6094476" y="2679192"/>
            <a:ext cx="0" cy="22860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EF2A8F6F-A461-CAEB-00D7-BE706CB22841}"/>
              </a:ext>
            </a:extLst>
          </p:cNvPr>
          <p:cNvSpPr/>
          <p:nvPr/>
        </p:nvSpPr>
        <p:spPr>
          <a:xfrm>
            <a:off x="539496" y="2907792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18D950E5-9C61-B30A-7246-63AB2E32EA91}"/>
              </a:ext>
            </a:extLst>
          </p:cNvPr>
          <p:cNvSpPr/>
          <p:nvPr/>
        </p:nvSpPr>
        <p:spPr>
          <a:xfrm>
            <a:off x="649224" y="3017520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BackOfficeService</a:t>
            </a:r>
            <a:endParaRPr lang="en-US" sz="125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506D5597-8774-A7D8-D2EB-A42B9B4B864A}"/>
              </a:ext>
            </a:extLst>
          </p:cNvPr>
          <p:cNvSpPr/>
          <p:nvPr/>
        </p:nvSpPr>
        <p:spPr>
          <a:xfrm>
            <a:off x="649224" y="3319272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5001</a:t>
            </a:r>
            <a:endParaRPr lang="en-US" sz="90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02E4BA0B-CB47-5C46-8F41-1F83E3E51B9D}"/>
              </a:ext>
            </a:extLst>
          </p:cNvPr>
          <p:cNvSpPr/>
          <p:nvPr/>
        </p:nvSpPr>
        <p:spPr>
          <a:xfrm>
            <a:off x="649224" y="3593592"/>
            <a:ext cx="2386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roles, station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mgmt, reports</a:t>
            </a:r>
            <a:endParaRPr lang="en-US" sz="1000" dirty="0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08343FFD-5A97-A847-3808-E63BCE295238}"/>
              </a:ext>
            </a:extLst>
          </p:cNvPr>
          <p:cNvSpPr/>
          <p:nvPr/>
        </p:nvSpPr>
        <p:spPr>
          <a:xfrm>
            <a:off x="1842516" y="4325112"/>
            <a:ext cx="0" cy="201168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0C862DBF-F608-7A0E-A22D-0B8CD15C3CB0}"/>
              </a:ext>
            </a:extLst>
          </p:cNvPr>
          <p:cNvSpPr/>
          <p:nvPr/>
        </p:nvSpPr>
        <p:spPr>
          <a:xfrm>
            <a:off x="3374136" y="2907792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214ACB38-42D4-600A-9439-1FF557CC3752}"/>
              </a:ext>
            </a:extLst>
          </p:cNvPr>
          <p:cNvSpPr/>
          <p:nvPr/>
        </p:nvSpPr>
        <p:spPr>
          <a:xfrm>
            <a:off x="3483864" y="3017520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FlightOpsService</a:t>
            </a:r>
            <a:endParaRPr lang="en-US" sz="125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C896472A-B9FF-3083-6479-B181ED86F4BF}"/>
              </a:ext>
            </a:extLst>
          </p:cNvPr>
          <p:cNvSpPr/>
          <p:nvPr/>
        </p:nvSpPr>
        <p:spPr>
          <a:xfrm>
            <a:off x="3483864" y="3319272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5003</a:t>
            </a: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73EEEF79-BD16-224C-B7F7-A15CCCC17B9C}"/>
              </a:ext>
            </a:extLst>
          </p:cNvPr>
          <p:cNvSpPr/>
          <p:nvPr/>
        </p:nvSpPr>
        <p:spPr>
          <a:xfrm>
            <a:off x="3483864" y="3593592"/>
            <a:ext cx="2386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Flights, bookings,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seats, check-in</a:t>
            </a:r>
            <a:endParaRPr lang="en-US" sz="100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335BDFCD-FBAF-21BA-BF6C-C185449D724B}"/>
              </a:ext>
            </a:extLst>
          </p:cNvPr>
          <p:cNvSpPr/>
          <p:nvPr/>
        </p:nvSpPr>
        <p:spPr>
          <a:xfrm>
            <a:off x="4677156" y="4325112"/>
            <a:ext cx="0" cy="201168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559D2F30-59F1-ED60-D471-E4977CC88005}"/>
              </a:ext>
            </a:extLst>
          </p:cNvPr>
          <p:cNvSpPr/>
          <p:nvPr/>
        </p:nvSpPr>
        <p:spPr>
          <a:xfrm>
            <a:off x="6208776" y="2907792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1DBFEA2A-6B09-311D-49D0-D1B2DFB3A61A}"/>
              </a:ext>
            </a:extLst>
          </p:cNvPr>
          <p:cNvSpPr/>
          <p:nvPr/>
        </p:nvSpPr>
        <p:spPr>
          <a:xfrm>
            <a:off x="6318504" y="3017520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PaymentService</a:t>
            </a:r>
            <a:endParaRPr lang="en-US" sz="125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727BE72E-17AC-6122-5056-3F84EEDBAD65}"/>
              </a:ext>
            </a:extLst>
          </p:cNvPr>
          <p:cNvSpPr/>
          <p:nvPr/>
        </p:nvSpPr>
        <p:spPr>
          <a:xfrm>
            <a:off x="6318504" y="3319272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5005</a:t>
            </a:r>
            <a:endParaRPr lang="en-US" sz="9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A01D22C4-BB49-00B1-AFCB-7D2CA553DC8F}"/>
              </a:ext>
            </a:extLst>
          </p:cNvPr>
          <p:cNvSpPr/>
          <p:nvPr/>
        </p:nvSpPr>
        <p:spPr>
          <a:xfrm>
            <a:off x="6318504" y="3593592"/>
            <a:ext cx="2386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orders,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refunds</a:t>
            </a:r>
            <a:endParaRPr lang="en-US" sz="1000" dirty="0"/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7A0DCD89-9F85-5218-DB15-79112FF7CB8C}"/>
              </a:ext>
            </a:extLst>
          </p:cNvPr>
          <p:cNvSpPr/>
          <p:nvPr/>
        </p:nvSpPr>
        <p:spPr>
          <a:xfrm>
            <a:off x="7511796" y="4325112"/>
            <a:ext cx="0" cy="201168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CEA2B53E-5AA1-9530-8893-C2C9FB742FB1}"/>
              </a:ext>
            </a:extLst>
          </p:cNvPr>
          <p:cNvSpPr/>
          <p:nvPr/>
        </p:nvSpPr>
        <p:spPr>
          <a:xfrm>
            <a:off x="9043416" y="2907792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FD75E54F-417F-3C96-1520-71F8107DB278}"/>
              </a:ext>
            </a:extLst>
          </p:cNvPr>
          <p:cNvSpPr/>
          <p:nvPr/>
        </p:nvSpPr>
        <p:spPr>
          <a:xfrm>
            <a:off x="9153144" y="3017520"/>
            <a:ext cx="2386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PassengerService</a:t>
            </a:r>
            <a:endParaRPr lang="en-US" sz="1250" dirty="0"/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E62B0F33-4572-2C45-7D18-97DECC3F10C5}"/>
              </a:ext>
            </a:extLst>
          </p:cNvPr>
          <p:cNvSpPr/>
          <p:nvPr/>
        </p:nvSpPr>
        <p:spPr>
          <a:xfrm>
            <a:off x="9153144" y="3319272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5007</a:t>
            </a:r>
            <a:endParaRPr lang="en-US" sz="900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07CDE8E5-A321-70F5-5C27-E9E37D5AEFB4}"/>
              </a:ext>
            </a:extLst>
          </p:cNvPr>
          <p:cNvSpPr/>
          <p:nvPr/>
        </p:nvSpPr>
        <p:spPr>
          <a:xfrm>
            <a:off x="9153144" y="3593592"/>
            <a:ext cx="2386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OTP,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profiles</a:t>
            </a:r>
            <a:endParaRPr lang="en-US" sz="1000" dirty="0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657F8075-8798-24F1-F8B7-2E9B4128033B}"/>
              </a:ext>
            </a:extLst>
          </p:cNvPr>
          <p:cNvSpPr/>
          <p:nvPr/>
        </p:nvSpPr>
        <p:spPr>
          <a:xfrm>
            <a:off x="10346436" y="4325112"/>
            <a:ext cx="0" cy="201168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67" name="Shape 32">
            <a:extLst>
              <a:ext uri="{FF2B5EF4-FFF2-40B4-BE49-F238E27FC236}">
                <a16:creationId xmlns:a16="http://schemas.microsoft.com/office/drawing/2014/main" id="{1F8EF186-A39E-1BF9-E92D-6C62C287BF09}"/>
              </a:ext>
            </a:extLst>
          </p:cNvPr>
          <p:cNvSpPr/>
          <p:nvPr/>
        </p:nvSpPr>
        <p:spPr>
          <a:xfrm>
            <a:off x="539496" y="4526280"/>
            <a:ext cx="2606040" cy="457200"/>
          </a:xfrm>
          <a:prstGeom prst="roundRect">
            <a:avLst>
              <a:gd name="adj" fmla="val 7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1FB87219-6B02-1699-405B-34F706B5A0FF}"/>
              </a:ext>
            </a:extLst>
          </p:cNvPr>
          <p:cNvSpPr/>
          <p:nvPr/>
        </p:nvSpPr>
        <p:spPr>
          <a:xfrm>
            <a:off x="612648" y="4526280"/>
            <a:ext cx="2459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Airline_ BackOfficeDB</a:t>
            </a:r>
            <a:endParaRPr lang="en-US" sz="950" dirty="0"/>
          </a:p>
        </p:txBody>
      </p:sp>
      <p:sp>
        <p:nvSpPr>
          <p:cNvPr id="71" name="Shape 34">
            <a:extLst>
              <a:ext uri="{FF2B5EF4-FFF2-40B4-BE49-F238E27FC236}">
                <a16:creationId xmlns:a16="http://schemas.microsoft.com/office/drawing/2014/main" id="{3B9387F3-7B97-4368-FA1A-924B02969144}"/>
              </a:ext>
            </a:extLst>
          </p:cNvPr>
          <p:cNvSpPr/>
          <p:nvPr/>
        </p:nvSpPr>
        <p:spPr>
          <a:xfrm>
            <a:off x="3374136" y="4526280"/>
            <a:ext cx="2606040" cy="457200"/>
          </a:xfrm>
          <a:prstGeom prst="roundRect">
            <a:avLst>
              <a:gd name="adj" fmla="val 70000"/>
            </a:avLst>
          </a:prstGeom>
          <a:solidFill>
            <a:schemeClr val="accent2"/>
          </a:solidFill>
          <a:ln/>
        </p:spPr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9AF20075-D527-45AB-9D52-4D2D6C4D6BF3}"/>
              </a:ext>
            </a:extLst>
          </p:cNvPr>
          <p:cNvSpPr/>
          <p:nvPr/>
        </p:nvSpPr>
        <p:spPr>
          <a:xfrm>
            <a:off x="3447288" y="4526280"/>
            <a:ext cx="2459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Airline_ FlightOpsDB</a:t>
            </a:r>
            <a:endParaRPr lang="en-US" sz="950" dirty="0"/>
          </a:p>
        </p:txBody>
      </p:sp>
      <p:sp>
        <p:nvSpPr>
          <p:cNvPr id="75" name="Shape 36">
            <a:extLst>
              <a:ext uri="{FF2B5EF4-FFF2-40B4-BE49-F238E27FC236}">
                <a16:creationId xmlns:a16="http://schemas.microsoft.com/office/drawing/2014/main" id="{9B103F5E-DF8F-82DE-B49D-E9BFDCF69ED4}"/>
              </a:ext>
            </a:extLst>
          </p:cNvPr>
          <p:cNvSpPr/>
          <p:nvPr/>
        </p:nvSpPr>
        <p:spPr>
          <a:xfrm>
            <a:off x="6208776" y="4526280"/>
            <a:ext cx="2606040" cy="457200"/>
          </a:xfrm>
          <a:prstGeom prst="roundRect">
            <a:avLst>
              <a:gd name="adj" fmla="val 70000"/>
            </a:avLst>
          </a:prstGeom>
          <a:solidFill>
            <a:schemeClr val="accent2"/>
          </a:solidFill>
          <a:ln/>
        </p:spPr>
      </p:sp>
      <p:sp>
        <p:nvSpPr>
          <p:cNvPr id="77" name="Text 37">
            <a:extLst>
              <a:ext uri="{FF2B5EF4-FFF2-40B4-BE49-F238E27FC236}">
                <a16:creationId xmlns:a16="http://schemas.microsoft.com/office/drawing/2014/main" id="{716BD4E6-A3AC-8AEE-2C3F-0B39B6B7F4E3}"/>
              </a:ext>
            </a:extLst>
          </p:cNvPr>
          <p:cNvSpPr/>
          <p:nvPr/>
        </p:nvSpPr>
        <p:spPr>
          <a:xfrm>
            <a:off x="6281928" y="4526280"/>
            <a:ext cx="2459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Airline_ PaymentDB</a:t>
            </a:r>
            <a:endParaRPr lang="en-US" sz="950" dirty="0"/>
          </a:p>
        </p:txBody>
      </p:sp>
      <p:sp>
        <p:nvSpPr>
          <p:cNvPr id="79" name="Shape 38">
            <a:extLst>
              <a:ext uri="{FF2B5EF4-FFF2-40B4-BE49-F238E27FC236}">
                <a16:creationId xmlns:a16="http://schemas.microsoft.com/office/drawing/2014/main" id="{843DD914-70FC-A0C6-72B6-21682EBC0DDE}"/>
              </a:ext>
            </a:extLst>
          </p:cNvPr>
          <p:cNvSpPr/>
          <p:nvPr/>
        </p:nvSpPr>
        <p:spPr>
          <a:xfrm>
            <a:off x="9043416" y="4526280"/>
            <a:ext cx="2606040" cy="457200"/>
          </a:xfrm>
          <a:prstGeom prst="roundRect">
            <a:avLst>
              <a:gd name="adj" fmla="val 70000"/>
            </a:avLst>
          </a:prstGeom>
          <a:solidFill>
            <a:schemeClr val="accent2"/>
          </a:solidFill>
          <a:ln/>
        </p:spPr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4D3797B6-47B3-BF7B-3FC7-5EBAF1E091B2}"/>
              </a:ext>
            </a:extLst>
          </p:cNvPr>
          <p:cNvSpPr/>
          <p:nvPr/>
        </p:nvSpPr>
        <p:spPr>
          <a:xfrm>
            <a:off x="9116568" y="4526280"/>
            <a:ext cx="2459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Airline_ PassengerDB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970446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BA8438D-DD4C-7B22-44F4-28A28416205E}"/>
              </a:ext>
            </a:extLst>
          </p:cNvPr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Common Infrastructure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2886291-7C6B-49F2-DBAC-449710161ABE}"/>
              </a:ext>
            </a:extLst>
          </p:cNvPr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base entities, security helpers &amp; domain enums used across all four services</a:t>
            </a:r>
            <a:endParaRPr lang="en-US" sz="13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8109F90-7D7B-B1F3-C506-115ED8795C4C}"/>
              </a:ext>
            </a:extLst>
          </p:cNvPr>
          <p:cNvSpPr/>
          <p:nvPr/>
        </p:nvSpPr>
        <p:spPr>
          <a:xfrm>
            <a:off x="548640" y="160020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EEF3FD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C55E18F-C395-1ECC-CD30-4F64F4D00FD9}"/>
              </a:ext>
            </a:extLst>
          </p:cNvPr>
          <p:cNvSpPr/>
          <p:nvPr/>
        </p:nvSpPr>
        <p:spPr>
          <a:xfrm>
            <a:off x="777240" y="16916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BaseEntity&lt;TId&gt;</a:t>
            </a:r>
            <a:endParaRPr lang="en-US" sz="145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1EF53BC6-11E9-C7C7-52B0-9A9288CB2828}"/>
              </a:ext>
            </a:extLst>
          </p:cNvPr>
          <p:cNvSpPr/>
          <p:nvPr/>
        </p:nvSpPr>
        <p:spPr>
          <a:xfrm>
            <a:off x="777240" y="2020824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TId Id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DateTime CreatedAt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DateTime? UpdatedAt</a:t>
            </a:r>
            <a:endParaRPr lang="en-US" sz="105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EC922E6-4AFB-C25E-61F8-11722AF61F99}"/>
              </a:ext>
            </a:extLst>
          </p:cNvPr>
          <p:cNvSpPr/>
          <p:nvPr/>
        </p:nvSpPr>
        <p:spPr>
          <a:xfrm>
            <a:off x="777240" y="272491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base — BaseEntity&lt;int&gt; is the concrete root every domain entity inherits.</a:t>
            </a:r>
            <a:endParaRPr lang="en-US" sz="95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570D3956-9E3D-2CDC-AB54-369E752E4EEB}"/>
              </a:ext>
            </a:extLst>
          </p:cNvPr>
          <p:cNvSpPr/>
          <p:nvPr/>
        </p:nvSpPr>
        <p:spPr>
          <a:xfrm>
            <a:off x="548640" y="320040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EEF3FD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B5B3968B-0C68-5436-A062-0C6400FEB7FD}"/>
              </a:ext>
            </a:extLst>
          </p:cNvPr>
          <p:cNvSpPr/>
          <p:nvPr/>
        </p:nvSpPr>
        <p:spPr>
          <a:xfrm>
            <a:off x="777240" y="32918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— Password &amp; Tokens</a:t>
            </a:r>
            <a:endParaRPr lang="en-US" sz="145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CDD885AB-FCD7-5E24-1C75-5C27FDDBA459}"/>
              </a:ext>
            </a:extLst>
          </p:cNvPr>
          <p:cNvSpPr/>
          <p:nvPr/>
        </p:nvSpPr>
        <p:spPr>
          <a:xfrm>
            <a:off x="777240" y="3621024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PasswordHasher (static): Hash() / Verify()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ITokenService → JwtTokenService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GenerateToken(userId, email, role)</a:t>
            </a:r>
            <a:endParaRPr lang="en-US" sz="105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8DF99F71-8EF5-D123-D3FD-6C102B3BDBF7}"/>
              </a:ext>
            </a:extLst>
          </p:cNvPr>
          <p:cNvSpPr/>
          <p:nvPr/>
        </p:nvSpPr>
        <p:spPr>
          <a:xfrm>
            <a:off x="777240" y="432511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JwtTokenService reads _key, _issuer, _audience, _expirationMinutes.</a:t>
            </a:r>
            <a:endParaRPr lang="en-US" sz="95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D0358F40-BB26-3544-6379-B2BB399FF320}"/>
              </a:ext>
            </a:extLst>
          </p:cNvPr>
          <p:cNvSpPr/>
          <p:nvPr/>
        </p:nvSpPr>
        <p:spPr>
          <a:xfrm>
            <a:off x="548640" y="480060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EEF3FD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9EF36E21-77E3-5295-AA0F-33C80DB663D3}"/>
              </a:ext>
            </a:extLst>
          </p:cNvPr>
          <p:cNvSpPr/>
          <p:nvPr/>
        </p:nvSpPr>
        <p:spPr>
          <a:xfrm>
            <a:off x="777240" y="48920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JwtSettings</a:t>
            </a:r>
            <a:endParaRPr lang="en-US" sz="14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B923C0CA-F2ED-7920-4861-5BB5D0D0B9BD}"/>
              </a:ext>
            </a:extLst>
          </p:cNvPr>
          <p:cNvSpPr/>
          <p:nvPr/>
        </p:nvSpPr>
        <p:spPr>
          <a:xfrm>
            <a:off x="777240" y="5221224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string Key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string Issuer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string Audience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int ExpirationMinutes</a:t>
            </a:r>
            <a:endParaRPr lang="en-US" sz="105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227C1DC7-6DE9-9700-8072-696205261673}"/>
              </a:ext>
            </a:extLst>
          </p:cNvPr>
          <p:cNvSpPr/>
          <p:nvPr/>
        </p:nvSpPr>
        <p:spPr>
          <a:xfrm>
            <a:off x="777240" y="592531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from configuration and injected into JwtTokenService.</a:t>
            </a:r>
            <a:endParaRPr lang="en-US" sz="95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6000C593-20F4-0AB7-259F-049A3DFB9683}"/>
              </a:ext>
            </a:extLst>
          </p:cNvPr>
          <p:cNvSpPr/>
          <p:nvPr/>
        </p:nvSpPr>
        <p:spPr>
          <a:xfrm>
            <a:off x="749808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Enums</a:t>
            </a:r>
            <a:endParaRPr lang="en-US" sz="15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A64B8022-B40D-569E-D1CB-2306230EACA9}"/>
              </a:ext>
            </a:extLst>
          </p:cNvPr>
          <p:cNvSpPr/>
          <p:nvPr/>
        </p:nvSpPr>
        <p:spPr>
          <a:xfrm>
            <a:off x="7498080" y="2011680"/>
            <a:ext cx="41148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DCE28993-E211-5B32-7E1A-CD23599E6135}"/>
              </a:ext>
            </a:extLst>
          </p:cNvPr>
          <p:cNvSpPr/>
          <p:nvPr/>
        </p:nvSpPr>
        <p:spPr>
          <a:xfrm>
            <a:off x="7680960" y="2066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UserRole</a:t>
            </a:r>
            <a:endParaRPr lang="en-US" sz="12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B83D82F6-EFD3-166B-DEC9-B50B6F06ECE6}"/>
              </a:ext>
            </a:extLst>
          </p:cNvPr>
          <p:cNvSpPr/>
          <p:nvPr/>
        </p:nvSpPr>
        <p:spPr>
          <a:xfrm>
            <a:off x="7680960" y="232257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SuperAdmin, Admin, HR, FinancialAdmin, Staff, Dealer, Passenger</a:t>
            </a:r>
            <a:endParaRPr lang="en-US" sz="880" dirty="0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79302783-DF29-9EDC-1C6C-4427C16FD6CB}"/>
              </a:ext>
            </a:extLst>
          </p:cNvPr>
          <p:cNvSpPr/>
          <p:nvPr/>
        </p:nvSpPr>
        <p:spPr>
          <a:xfrm>
            <a:off x="7498080" y="2962656"/>
            <a:ext cx="41148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3E2CA9D1-13C6-5EB1-1BED-37508B3C54DE}"/>
              </a:ext>
            </a:extLst>
          </p:cNvPr>
          <p:cNvSpPr/>
          <p:nvPr/>
        </p:nvSpPr>
        <p:spPr>
          <a:xfrm>
            <a:off x="768096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BookingStatus</a:t>
            </a:r>
            <a:endParaRPr lang="en-US" sz="12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CF040221-F43B-0E91-5D26-F16305CCA55E}"/>
              </a:ext>
            </a:extLst>
          </p:cNvPr>
          <p:cNvSpPr/>
          <p:nvPr/>
        </p:nvSpPr>
        <p:spPr>
          <a:xfrm>
            <a:off x="7680960" y="327355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Confirmed, CheckedIn, Completed, Cancelled, PartiallyCancelled, PaymentFailed</a:t>
            </a:r>
            <a:endParaRPr lang="en-US" sz="88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A1509DF8-3CD2-E52C-349B-8645DBD4E781}"/>
              </a:ext>
            </a:extLst>
          </p:cNvPr>
          <p:cNvSpPr/>
          <p:nvPr/>
        </p:nvSpPr>
        <p:spPr>
          <a:xfrm>
            <a:off x="7498080" y="3913632"/>
            <a:ext cx="41148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9E3D8D94-7A81-D805-0BAA-C8F2F68CEE81}"/>
              </a:ext>
            </a:extLst>
          </p:cNvPr>
          <p:cNvSpPr/>
          <p:nvPr/>
        </p:nvSpPr>
        <p:spPr>
          <a:xfrm>
            <a:off x="7680960" y="39684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PaymentStatus</a:t>
            </a:r>
            <a:endParaRPr lang="en-US" sz="120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60E2A914-91A8-1A86-9847-FD2785E42707}"/>
              </a:ext>
            </a:extLst>
          </p:cNvPr>
          <p:cNvSpPr/>
          <p:nvPr/>
        </p:nvSpPr>
        <p:spPr>
          <a:xfrm>
            <a:off x="7680960" y="42245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Success, Failed, Refunded</a:t>
            </a:r>
            <a:endParaRPr lang="en-US" sz="880" dirty="0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6A4361D2-F165-D579-0F59-C1143F38433A}"/>
              </a:ext>
            </a:extLst>
          </p:cNvPr>
          <p:cNvSpPr/>
          <p:nvPr/>
        </p:nvSpPr>
        <p:spPr>
          <a:xfrm>
            <a:off x="7498080" y="4864608"/>
            <a:ext cx="41148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77860B1C-E620-C037-1459-5E1326B27471}"/>
              </a:ext>
            </a:extLst>
          </p:cNvPr>
          <p:cNvSpPr/>
          <p:nvPr/>
        </p:nvSpPr>
        <p:spPr>
          <a:xfrm>
            <a:off x="7680960" y="49194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FlightStatus</a:t>
            </a:r>
            <a:endParaRPr lang="en-US" sz="12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2EFEDB9A-824C-349D-250A-5A30FB58CE6B}"/>
              </a:ext>
            </a:extLst>
          </p:cNvPr>
          <p:cNvSpPr/>
          <p:nvPr/>
        </p:nvSpPr>
        <p:spPr>
          <a:xfrm>
            <a:off x="7680960" y="517550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Boarding, Departed, InFlight, Landed, Delayed, Cancelled, Completed</a:t>
            </a:r>
            <a:endParaRPr lang="en-US" sz="880" dirty="0"/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3837FFD6-137F-7460-5F0E-12ED9EDF4C3E}"/>
              </a:ext>
            </a:extLst>
          </p:cNvPr>
          <p:cNvSpPr/>
          <p:nvPr/>
        </p:nvSpPr>
        <p:spPr>
          <a:xfrm>
            <a:off x="7498080" y="5815584"/>
            <a:ext cx="41148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43A7FD88-8493-8610-03DC-5E46C4F6585E}"/>
              </a:ext>
            </a:extLst>
          </p:cNvPr>
          <p:cNvSpPr/>
          <p:nvPr/>
        </p:nvSpPr>
        <p:spPr>
          <a:xfrm>
            <a:off x="7680960" y="5870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SeatClass</a:t>
            </a:r>
            <a:endParaRPr lang="en-US" sz="1200" dirty="0"/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E996EA33-405E-AD28-C6F4-8ED6BEA468DC}"/>
              </a:ext>
            </a:extLst>
          </p:cNvPr>
          <p:cNvSpPr/>
          <p:nvPr/>
        </p:nvSpPr>
        <p:spPr>
          <a:xfrm>
            <a:off x="7680960" y="61264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Economy, Business, First</a:t>
            </a:r>
            <a:endParaRPr lang="en-US" sz="880" dirty="0"/>
          </a:p>
        </p:txBody>
      </p:sp>
    </p:spTree>
    <p:extLst>
      <p:ext uri="{BB962C8B-B14F-4D97-AF65-F5344CB8AC3E}">
        <p14:creationId xmlns:p14="http://schemas.microsoft.com/office/powerpoint/2010/main" val="2764574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7AA7452-BF57-076C-080F-6A30D2AF0BC6}"/>
              </a:ext>
            </a:extLst>
          </p:cNvPr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4-Tier Layered Architecture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0128F60-933B-55C2-4C7B-083C0C2E7A48}"/>
              </a:ext>
            </a:extLst>
          </p:cNvPr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microservice in the solution follows this same clean separation of concerns</a:t>
            </a:r>
            <a:endParaRPr lang="en-US" sz="13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6BBB847-9E16-B4C6-3C2F-1B592F66F7F4}"/>
              </a:ext>
            </a:extLst>
          </p:cNvPr>
          <p:cNvSpPr/>
          <p:nvPr/>
        </p:nvSpPr>
        <p:spPr>
          <a:xfrm>
            <a:off x="548640" y="1600200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76200" dist="25400" dir="5400000" algn="bl" rotWithShape="0">
              <a:srgbClr val="3A4A7A">
                <a:alpha val="18000"/>
              </a:srgbClr>
            </a:outerShdw>
          </a:effectLst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454026D2-11DB-92B9-10C4-72A20C514AB2}"/>
              </a:ext>
            </a:extLst>
          </p:cNvPr>
          <p:cNvSpPr/>
          <p:nvPr/>
        </p:nvSpPr>
        <p:spPr>
          <a:xfrm>
            <a:off x="777240" y="18562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5CC082A-90D3-CE00-BFEC-10E8C0B71F70}"/>
              </a:ext>
            </a:extLst>
          </p:cNvPr>
          <p:cNvSpPr/>
          <p:nvPr/>
        </p:nvSpPr>
        <p:spPr>
          <a:xfrm>
            <a:off x="77724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7421FE66-A523-E608-DBE3-173A6D6129A3}"/>
              </a:ext>
            </a:extLst>
          </p:cNvPr>
          <p:cNvSpPr/>
          <p:nvPr/>
        </p:nvSpPr>
        <p:spPr>
          <a:xfrm>
            <a:off x="150876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56932607-2BD7-B707-F2C9-2F9CC5D4D01C}"/>
              </a:ext>
            </a:extLst>
          </p:cNvPr>
          <p:cNvSpPr/>
          <p:nvPr/>
        </p:nvSpPr>
        <p:spPr>
          <a:xfrm>
            <a:off x="150876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(ControllerBase)</a:t>
            </a:r>
            <a:endParaRPr lang="en-US" sz="11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2009C999-E442-D5DA-1513-583B3C7C9BD6}"/>
              </a:ext>
            </a:extLst>
          </p:cNvPr>
          <p:cNvSpPr/>
          <p:nvPr/>
        </p:nvSpPr>
        <p:spPr>
          <a:xfrm>
            <a:off x="5029200" y="1600200"/>
            <a:ext cx="6309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HTTP requests, runs auth checks &amp; model validation, dispatches to services.</a:t>
            </a:r>
            <a:endParaRPr lang="en-US" sz="13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CC242E7B-5090-EB5A-0B3F-B02F14C3EEAE}"/>
              </a:ext>
            </a:extLst>
          </p:cNvPr>
          <p:cNvSpPr/>
          <p:nvPr/>
        </p:nvSpPr>
        <p:spPr>
          <a:xfrm rot="10800000">
            <a:off x="914400" y="2633472"/>
            <a:ext cx="237744" cy="146304"/>
          </a:xfrm>
          <a:prstGeom prst="triangle">
            <a:avLst/>
          </a:prstGeom>
          <a:solidFill>
            <a:srgbClr val="E8833A"/>
          </a:solidFill>
          <a:ln/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D2710A47-DD5A-11B2-A4C4-19D937854137}"/>
              </a:ext>
            </a:extLst>
          </p:cNvPr>
          <p:cNvSpPr/>
          <p:nvPr/>
        </p:nvSpPr>
        <p:spPr>
          <a:xfrm>
            <a:off x="548640" y="2788920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EEF3FD"/>
          </a:solidFill>
          <a:ln w="12700">
            <a:solidFill>
              <a:srgbClr val="DCE3F2"/>
            </a:solidFill>
            <a:prstDash val="solid"/>
          </a:ln>
          <a:effectLst>
            <a:outerShdw blurRad="76200" dist="25400" dir="5400000" algn="bl" rotWithShape="0">
              <a:srgbClr val="3A4A7A">
                <a:alpha val="18000"/>
              </a:srgbClr>
            </a:outerShdw>
          </a:effectLst>
        </p:spPr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CC42C658-F53A-5852-7D5A-9F7141300835}"/>
              </a:ext>
            </a:extLst>
          </p:cNvPr>
          <p:cNvSpPr/>
          <p:nvPr/>
        </p:nvSpPr>
        <p:spPr>
          <a:xfrm>
            <a:off x="777240" y="30449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5AFE6D43-CD17-183D-6A39-AABB4092E9C1}"/>
              </a:ext>
            </a:extLst>
          </p:cNvPr>
          <p:cNvSpPr/>
          <p:nvPr/>
        </p:nvSpPr>
        <p:spPr>
          <a:xfrm>
            <a:off x="777240" y="30449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649C65DB-F420-BB13-B063-BDC469786C03}"/>
              </a:ext>
            </a:extLst>
          </p:cNvPr>
          <p:cNvSpPr/>
          <p:nvPr/>
        </p:nvSpPr>
        <p:spPr>
          <a:xfrm>
            <a:off x="150876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Logic Layer</a:t>
            </a:r>
            <a:endParaRPr lang="en-US" sz="16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7604B421-5E12-FB9D-C925-6419824DB35B}"/>
              </a:ext>
            </a:extLst>
          </p:cNvPr>
          <p:cNvSpPr/>
          <p:nvPr/>
        </p:nvSpPr>
        <p:spPr>
          <a:xfrm>
            <a:off x="1508760" y="3246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(IService / ServiceImpl)</a:t>
            </a:r>
            <a:endParaRPr lang="en-US" sz="11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9D9059F3-E75C-5B9C-9071-25D9D4F0553D}"/>
              </a:ext>
            </a:extLst>
          </p:cNvPr>
          <p:cNvSpPr/>
          <p:nvPr/>
        </p:nvSpPr>
        <p:spPr>
          <a:xfrm>
            <a:off x="5029200" y="2788920"/>
            <a:ext cx="6309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business rules, transaction boundaries, token generation, DTO mapping.</a:t>
            </a:r>
            <a:endParaRPr lang="en-US" sz="13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5535B3D0-A3A6-5604-570E-09C18AE014D4}"/>
              </a:ext>
            </a:extLst>
          </p:cNvPr>
          <p:cNvSpPr/>
          <p:nvPr/>
        </p:nvSpPr>
        <p:spPr>
          <a:xfrm rot="10800000">
            <a:off x="914400" y="3822192"/>
            <a:ext cx="237744" cy="146304"/>
          </a:xfrm>
          <a:prstGeom prst="triangle">
            <a:avLst/>
          </a:prstGeom>
          <a:solidFill>
            <a:srgbClr val="E8833A"/>
          </a:solidFill>
          <a:ln/>
        </p:spPr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C09815E9-BE73-E01C-EE66-13A936505EFC}"/>
              </a:ext>
            </a:extLst>
          </p:cNvPr>
          <p:cNvSpPr/>
          <p:nvPr/>
        </p:nvSpPr>
        <p:spPr>
          <a:xfrm>
            <a:off x="548640" y="3977640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76200" dist="25400" dir="5400000" algn="bl" rotWithShape="0">
              <a:srgbClr val="3A4A7A">
                <a:alpha val="18000"/>
              </a:srgbClr>
            </a:outerShdw>
          </a:effectLst>
        </p:spPr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5C028F76-3111-C1C5-FAB3-C4144D4FBCA1}"/>
              </a:ext>
            </a:extLst>
          </p:cNvPr>
          <p:cNvSpPr/>
          <p:nvPr/>
        </p:nvSpPr>
        <p:spPr>
          <a:xfrm>
            <a:off x="777240" y="42336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F70CD938-BD1D-01CB-4AC3-15B633BEC52A}"/>
              </a:ext>
            </a:extLst>
          </p:cNvPr>
          <p:cNvSpPr/>
          <p:nvPr/>
        </p:nvSpPr>
        <p:spPr>
          <a:xfrm>
            <a:off x="777240" y="4233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43CE54CF-770C-ED80-94E4-1D8EBA88815A}"/>
              </a:ext>
            </a:extLst>
          </p:cNvPr>
          <p:cNvSpPr/>
          <p:nvPr/>
        </p:nvSpPr>
        <p:spPr>
          <a:xfrm>
            <a:off x="1508760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Access Layer</a:t>
            </a:r>
            <a:endParaRPr lang="en-US" sz="16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2C625FD4-CD30-3519-B2F5-0291EEEF49DC}"/>
              </a:ext>
            </a:extLst>
          </p:cNvPr>
          <p:cNvSpPr/>
          <p:nvPr/>
        </p:nvSpPr>
        <p:spPr>
          <a:xfrm>
            <a:off x="1508760" y="4434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(IRepository / RepositoryImpl)</a:t>
            </a:r>
            <a:endParaRPr lang="en-US" sz="11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BCE95493-8D90-91D5-BB65-66D6ADA64219}"/>
              </a:ext>
            </a:extLst>
          </p:cNvPr>
          <p:cNvSpPr/>
          <p:nvPr/>
        </p:nvSpPr>
        <p:spPr>
          <a:xfrm>
            <a:off x="5029200" y="3977640"/>
            <a:ext cx="6309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Encapsulates EF Core DbContext interactions and SQL queries.</a:t>
            </a:r>
            <a:endParaRPr lang="en-US" sz="1300" dirty="0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636D7484-3129-201C-6698-E475AF19BD86}"/>
              </a:ext>
            </a:extLst>
          </p:cNvPr>
          <p:cNvSpPr/>
          <p:nvPr/>
        </p:nvSpPr>
        <p:spPr>
          <a:xfrm rot="10800000">
            <a:off x="914400" y="5010912"/>
            <a:ext cx="237744" cy="146304"/>
          </a:xfrm>
          <a:prstGeom prst="triangle">
            <a:avLst/>
          </a:prstGeom>
          <a:solidFill>
            <a:srgbClr val="E8833A"/>
          </a:solidFill>
          <a:ln/>
        </p:spPr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E1952B2D-9456-EE29-F0DA-7E2E88680784}"/>
              </a:ext>
            </a:extLst>
          </p:cNvPr>
          <p:cNvSpPr/>
          <p:nvPr/>
        </p:nvSpPr>
        <p:spPr>
          <a:xfrm>
            <a:off x="548640" y="5166360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EEF3FD"/>
          </a:solidFill>
          <a:ln w="12700">
            <a:solidFill>
              <a:srgbClr val="DCE3F2"/>
            </a:solidFill>
            <a:prstDash val="solid"/>
          </a:ln>
          <a:effectLst>
            <a:outerShdw blurRad="76200" dist="25400" dir="5400000" algn="bl" rotWithShape="0">
              <a:srgbClr val="3A4A7A">
                <a:alpha val="18000"/>
              </a:srgbClr>
            </a:outerShdw>
          </a:effectLst>
        </p:spPr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013E1524-108E-8644-29EA-1033F7E7E5CE}"/>
              </a:ext>
            </a:extLst>
          </p:cNvPr>
          <p:cNvSpPr/>
          <p:nvPr/>
        </p:nvSpPr>
        <p:spPr>
          <a:xfrm>
            <a:off x="777240" y="54223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06A217B4-6AA6-14DB-6ACE-C4F8D62878F8}"/>
              </a:ext>
            </a:extLst>
          </p:cNvPr>
          <p:cNvSpPr/>
          <p:nvPr/>
        </p:nvSpPr>
        <p:spPr>
          <a:xfrm>
            <a:off x="777240" y="5422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389A3B99-9C9C-192E-384A-ACEC6898F943}"/>
              </a:ext>
            </a:extLst>
          </p:cNvPr>
          <p:cNvSpPr/>
          <p:nvPr/>
        </p:nvSpPr>
        <p:spPr>
          <a:xfrm>
            <a:off x="1508760" y="5257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Layer</a:t>
            </a:r>
            <a:endParaRPr lang="en-US" sz="1600" dirty="0"/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DD051776-61DE-D0A1-D9AC-DA8D7ACB134E}"/>
              </a:ext>
            </a:extLst>
          </p:cNvPr>
          <p:cNvSpPr/>
          <p:nvPr/>
        </p:nvSpPr>
        <p:spPr>
          <a:xfrm>
            <a:off x="1508760" y="5623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DbContext</a:t>
            </a:r>
            <a:endParaRPr lang="en-US" sz="1100" dirty="0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ED106DB5-F535-466D-2350-D7F54A4AB440}"/>
              </a:ext>
            </a:extLst>
          </p:cNvPr>
          <p:cNvSpPr/>
          <p:nvPr/>
        </p:nvSpPr>
        <p:spPr>
          <a:xfrm>
            <a:off x="5029200" y="5166360"/>
            <a:ext cx="6309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database tables &amp; schemas, all inheriting from BaseEntity.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694713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50C25DD-08AA-C6EE-673F-7C656823FEBA}"/>
              </a:ext>
            </a:extLst>
          </p:cNvPr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Capabilities Matrix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2898AE9-5D51-F5DC-370A-A7A213106677}"/>
              </a:ext>
            </a:extLst>
          </p:cNvPr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role can see and do across the platform.</a:t>
            </a:r>
            <a:endParaRPr lang="en-US" sz="130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0FCB672D-3BD3-42F5-A837-4129FC346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238506"/>
              </p:ext>
            </p:extLst>
          </p:nvPr>
        </p:nvGraphicFramePr>
        <p:xfrm>
          <a:off x="640080" y="1463040"/>
          <a:ext cx="10881360" cy="32918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Permissions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System-Wide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control — create/deactivate staff, manage flights, view finances, configure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Backoffice &amp; 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Manages flights &amp; schedules, oversees bookings, cancels flights, provisions 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In-Flight 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 manifests, schedule details, and passenger lists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Airport Terminal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 check-in, boarding pass verification, gate &amp; baggage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Portal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Registers, searches &amp; books flights, pays, checks in, downloads QR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2">
            <a:extLst>
              <a:ext uri="{FF2B5EF4-FFF2-40B4-BE49-F238E27FC236}">
                <a16:creationId xmlns:a16="http://schemas.microsoft.com/office/drawing/2014/main" id="{B26BD7A8-EBC0-CB62-3636-7FABB6BCC281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6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MANAGEMENT SYSTEM</a:t>
            </a:r>
            <a:endParaRPr lang="en-US" sz="9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6640EE0-1D90-463B-1F8D-3A05C2B95710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45424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66F3314-084D-CAB1-DBB1-1EF67F52C3E8}"/>
              </a:ext>
            </a:extLst>
          </p:cNvPr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&amp; Payment Lifecycle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69C6078-FD65-A1BD-496D-BEE877106374}"/>
              </a:ext>
            </a:extLst>
          </p:cNvPr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flight search to boarding — the end-to-end passenger journey.</a:t>
            </a:r>
            <a:endParaRPr lang="en-US" sz="13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1E9B4F8-4FB7-A5C9-C801-022920EFAF25}"/>
              </a:ext>
            </a:extLst>
          </p:cNvPr>
          <p:cNvSpPr/>
          <p:nvPr/>
        </p:nvSpPr>
        <p:spPr>
          <a:xfrm>
            <a:off x="1568196" y="2331720"/>
            <a:ext cx="905256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948C008D-4384-8390-91C0-64476536CCCE}"/>
              </a:ext>
            </a:extLst>
          </p:cNvPr>
          <p:cNvSpPr/>
          <p:nvPr/>
        </p:nvSpPr>
        <p:spPr>
          <a:xfrm>
            <a:off x="1202436" y="19659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0F1D512-BC82-E63F-F83E-A5FF1A298C48}"/>
              </a:ext>
            </a:extLst>
          </p:cNvPr>
          <p:cNvSpPr/>
          <p:nvPr/>
        </p:nvSpPr>
        <p:spPr>
          <a:xfrm>
            <a:off x="1202436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F4B1D3B5-14DD-15BF-5EFE-FBDF76EF71A9}"/>
              </a:ext>
            </a:extLst>
          </p:cNvPr>
          <p:cNvSpPr/>
          <p:nvPr/>
        </p:nvSpPr>
        <p:spPr>
          <a:xfrm>
            <a:off x="722376" y="2880360"/>
            <a:ext cx="1691640" cy="2377440"/>
          </a:xfrm>
          <a:prstGeom prst="roundRect">
            <a:avLst>
              <a:gd name="adj" fmla="val 3784"/>
            </a:avLst>
          </a:prstGeom>
          <a:solidFill>
            <a:srgbClr val="EEF3FC"/>
          </a:solidFill>
          <a:ln/>
          <a:effectLst>
            <a:outerShdw blurRad="63500" dist="25400" dir="5400000" algn="bl" rotWithShape="0">
              <a:srgbClr val="9AAFD1">
                <a:alpha val="30000"/>
              </a:srgbClr>
            </a:outerShdw>
          </a:effectLst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F9306D24-A730-059B-EC71-29C7ADC89F5F}"/>
              </a:ext>
            </a:extLst>
          </p:cNvPr>
          <p:cNvSpPr/>
          <p:nvPr/>
        </p:nvSpPr>
        <p:spPr>
          <a:xfrm>
            <a:off x="813816" y="30175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Select</a:t>
            </a:r>
            <a:endParaRPr lang="en-US" sz="12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7D80F69-E0C5-90E7-B4E8-9014BACB97F5}"/>
              </a:ext>
            </a:extLst>
          </p:cNvPr>
          <p:cNvSpPr/>
          <p:nvPr/>
        </p:nvSpPr>
        <p:spPr>
          <a:xfrm>
            <a:off x="813816" y="356616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searches routes, picks flight &amp; cabin class</a:t>
            </a:r>
            <a:endParaRPr lang="en-US" sz="95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6F486107-F564-F12C-321E-2E0AF9CF342E}"/>
              </a:ext>
            </a:extLst>
          </p:cNvPr>
          <p:cNvSpPr/>
          <p:nvPr/>
        </p:nvSpPr>
        <p:spPr>
          <a:xfrm>
            <a:off x="3012948" y="19659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E3E6910A-C372-8AC9-B6D1-E5419714BD9C}"/>
              </a:ext>
            </a:extLst>
          </p:cNvPr>
          <p:cNvSpPr/>
          <p:nvPr/>
        </p:nvSpPr>
        <p:spPr>
          <a:xfrm>
            <a:off x="3012948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8577787F-527E-6541-C43A-1CA64FA485E3}"/>
              </a:ext>
            </a:extLst>
          </p:cNvPr>
          <p:cNvSpPr/>
          <p:nvPr/>
        </p:nvSpPr>
        <p:spPr>
          <a:xfrm>
            <a:off x="2532888" y="2880360"/>
            <a:ext cx="1691640" cy="2377440"/>
          </a:xfrm>
          <a:prstGeom prst="roundRect">
            <a:avLst>
              <a:gd name="adj" fmla="val 3784"/>
            </a:avLst>
          </a:prstGeom>
          <a:solidFill>
            <a:srgbClr val="EEF3FC"/>
          </a:solidFill>
          <a:ln/>
          <a:effectLst>
            <a:outerShdw blurRad="63500" dist="25400" dir="5400000" algn="bl" rotWithShape="0">
              <a:srgbClr val="9AAFD1">
                <a:alpha val="30000"/>
              </a:srgbClr>
            </a:outerShdw>
          </a:effectLst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91EC7AFA-EFC7-9985-5B1B-BB5D141B7C7D}"/>
              </a:ext>
            </a:extLst>
          </p:cNvPr>
          <p:cNvSpPr/>
          <p:nvPr/>
        </p:nvSpPr>
        <p:spPr>
          <a:xfrm>
            <a:off x="2624328" y="30175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Created</a:t>
            </a:r>
            <a:endParaRPr lang="en-US" sz="12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F26C1448-5A9E-BD78-5776-C97FCC86B34C}"/>
              </a:ext>
            </a:extLst>
          </p:cNvPr>
          <p:cNvSpPr/>
          <p:nvPr/>
        </p:nvSpPr>
        <p:spPr>
          <a:xfrm>
            <a:off x="2624328" y="356616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deducted, unique PNR generated, payment pending</a:t>
            </a:r>
            <a:endParaRPr lang="en-US" sz="95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B55FF3F6-DCC3-7BCE-BE05-131186C21591}"/>
              </a:ext>
            </a:extLst>
          </p:cNvPr>
          <p:cNvSpPr/>
          <p:nvPr/>
        </p:nvSpPr>
        <p:spPr>
          <a:xfrm>
            <a:off x="4823460" y="19659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B3ADAD51-C131-A9C0-7DDD-A5A4140C5696}"/>
              </a:ext>
            </a:extLst>
          </p:cNvPr>
          <p:cNvSpPr/>
          <p:nvPr/>
        </p:nvSpPr>
        <p:spPr>
          <a:xfrm>
            <a:off x="482346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192DA2F4-BD6B-ACBC-538B-5FA002201083}"/>
              </a:ext>
            </a:extLst>
          </p:cNvPr>
          <p:cNvSpPr/>
          <p:nvPr/>
        </p:nvSpPr>
        <p:spPr>
          <a:xfrm>
            <a:off x="4343400" y="2880360"/>
            <a:ext cx="1691640" cy="2377440"/>
          </a:xfrm>
          <a:prstGeom prst="roundRect">
            <a:avLst>
              <a:gd name="adj" fmla="val 3784"/>
            </a:avLst>
          </a:prstGeom>
          <a:solidFill>
            <a:srgbClr val="EEF3FC"/>
          </a:solidFill>
          <a:ln/>
          <a:effectLst>
            <a:outerShdw blurRad="63500" dist="25400" dir="5400000" algn="bl" rotWithShape="0">
              <a:srgbClr val="9AAFD1">
                <a:alpha val="30000"/>
              </a:srgbClr>
            </a:outerShdw>
          </a:effectLst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93B17A3A-984B-2D47-89C3-F2301E9F6424}"/>
              </a:ext>
            </a:extLst>
          </p:cNvPr>
          <p:cNvSpPr/>
          <p:nvPr/>
        </p:nvSpPr>
        <p:spPr>
          <a:xfrm>
            <a:off x="4434840" y="30175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5DFCAA2D-AEDF-D29A-455C-2F2223068D12}"/>
              </a:ext>
            </a:extLst>
          </p:cNvPr>
          <p:cNvSpPr/>
          <p:nvPr/>
        </p:nvSpPr>
        <p:spPr>
          <a:xfrm>
            <a:off x="4434840" y="356616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order created, HMAC-SHA256 signature verified</a:t>
            </a:r>
            <a:endParaRPr lang="en-US" sz="950" dirty="0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2E2EB0AF-3876-02F4-92B5-437896A9B531}"/>
              </a:ext>
            </a:extLst>
          </p:cNvPr>
          <p:cNvSpPr/>
          <p:nvPr/>
        </p:nvSpPr>
        <p:spPr>
          <a:xfrm>
            <a:off x="6633972" y="19659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3029CFA5-811F-8BAF-638A-6F03F797743C}"/>
              </a:ext>
            </a:extLst>
          </p:cNvPr>
          <p:cNvSpPr/>
          <p:nvPr/>
        </p:nvSpPr>
        <p:spPr>
          <a:xfrm>
            <a:off x="6633972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A5F958BC-0891-38E4-D8F7-79849487A990}"/>
              </a:ext>
            </a:extLst>
          </p:cNvPr>
          <p:cNvSpPr/>
          <p:nvPr/>
        </p:nvSpPr>
        <p:spPr>
          <a:xfrm>
            <a:off x="6153912" y="2880360"/>
            <a:ext cx="1691640" cy="2377440"/>
          </a:xfrm>
          <a:prstGeom prst="roundRect">
            <a:avLst>
              <a:gd name="adj" fmla="val 3784"/>
            </a:avLst>
          </a:prstGeom>
          <a:solidFill>
            <a:srgbClr val="EEF3FC"/>
          </a:solidFill>
          <a:ln/>
          <a:effectLst>
            <a:outerShdw blurRad="63500" dist="25400" dir="5400000" algn="bl" rotWithShape="0">
              <a:srgbClr val="9AAFD1">
                <a:alpha val="30000"/>
              </a:srgbClr>
            </a:outerShdw>
          </a:effectLst>
        </p:spPr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06AFE886-7076-530A-AC8A-84D25639FA33}"/>
              </a:ext>
            </a:extLst>
          </p:cNvPr>
          <p:cNvSpPr/>
          <p:nvPr/>
        </p:nvSpPr>
        <p:spPr>
          <a:xfrm>
            <a:off x="6245352" y="30175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EC742A2F-6252-A742-D540-E1F956C6F832}"/>
              </a:ext>
            </a:extLst>
          </p:cNvPr>
          <p:cNvSpPr/>
          <p:nvPr/>
        </p:nvSpPr>
        <p:spPr>
          <a:xfrm>
            <a:off x="6245352" y="356616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Cross-service confirmation — booking status set to Confirmed</a:t>
            </a:r>
            <a:endParaRPr lang="en-US" sz="95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77464D7A-FC87-2855-52D5-FED2C0FA0777}"/>
              </a:ext>
            </a:extLst>
          </p:cNvPr>
          <p:cNvSpPr/>
          <p:nvPr/>
        </p:nvSpPr>
        <p:spPr>
          <a:xfrm>
            <a:off x="8444484" y="196596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A31BDBA4-A8F3-6169-A40C-6866A39FC225}"/>
              </a:ext>
            </a:extLst>
          </p:cNvPr>
          <p:cNvSpPr/>
          <p:nvPr/>
        </p:nvSpPr>
        <p:spPr>
          <a:xfrm>
            <a:off x="8444484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3F351835-E2B0-4CFA-822C-D1C0DC4A1B7C}"/>
              </a:ext>
            </a:extLst>
          </p:cNvPr>
          <p:cNvSpPr/>
          <p:nvPr/>
        </p:nvSpPr>
        <p:spPr>
          <a:xfrm>
            <a:off x="7964424" y="2880360"/>
            <a:ext cx="1691640" cy="2377440"/>
          </a:xfrm>
          <a:prstGeom prst="roundRect">
            <a:avLst>
              <a:gd name="adj" fmla="val 3784"/>
            </a:avLst>
          </a:prstGeom>
          <a:solidFill>
            <a:srgbClr val="EEF3FC"/>
          </a:solidFill>
          <a:ln/>
          <a:effectLst>
            <a:outerShdw blurRad="63500" dist="25400" dir="5400000" algn="bl" rotWithShape="0">
              <a:srgbClr val="9AAFD1">
                <a:alpha val="30000"/>
              </a:srgbClr>
            </a:outerShdw>
          </a:effectLst>
        </p:spPr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3D5F3AA7-DFFC-F1B8-A00B-F5F3CC6D03D9}"/>
              </a:ext>
            </a:extLst>
          </p:cNvPr>
          <p:cNvSpPr/>
          <p:nvPr/>
        </p:nvSpPr>
        <p:spPr>
          <a:xfrm>
            <a:off x="8055864" y="30175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200" dirty="0"/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0950F1B8-1DCE-6092-6CB9-2002E6D839A5}"/>
              </a:ext>
            </a:extLst>
          </p:cNvPr>
          <p:cNvSpPr/>
          <p:nvPr/>
        </p:nvSpPr>
        <p:spPr>
          <a:xfrm>
            <a:off x="8055864" y="356616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 hrs of departure: seat allocated, QR pass issued</a:t>
            </a:r>
            <a:endParaRPr lang="en-US" sz="950" dirty="0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1C37CD34-3091-4199-94B3-BC9B8C950707}"/>
              </a:ext>
            </a:extLst>
          </p:cNvPr>
          <p:cNvSpPr/>
          <p:nvPr/>
        </p:nvSpPr>
        <p:spPr>
          <a:xfrm>
            <a:off x="10254996" y="196596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05B45DA7-CAD2-83C4-B9FD-CFC0C998C844}"/>
              </a:ext>
            </a:extLst>
          </p:cNvPr>
          <p:cNvSpPr/>
          <p:nvPr/>
        </p:nvSpPr>
        <p:spPr>
          <a:xfrm>
            <a:off x="10254996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63" name="Shape 30">
            <a:extLst>
              <a:ext uri="{FF2B5EF4-FFF2-40B4-BE49-F238E27FC236}">
                <a16:creationId xmlns:a16="http://schemas.microsoft.com/office/drawing/2014/main" id="{D3DBF8BD-2BD0-083E-73C9-2D80D244C6BC}"/>
              </a:ext>
            </a:extLst>
          </p:cNvPr>
          <p:cNvSpPr/>
          <p:nvPr/>
        </p:nvSpPr>
        <p:spPr>
          <a:xfrm>
            <a:off x="9774936" y="2880360"/>
            <a:ext cx="1691640" cy="2377440"/>
          </a:xfrm>
          <a:prstGeom prst="roundRect">
            <a:avLst>
              <a:gd name="adj" fmla="val 3784"/>
            </a:avLst>
          </a:prstGeom>
          <a:solidFill>
            <a:srgbClr val="EEF3FC"/>
          </a:solidFill>
          <a:ln/>
          <a:effectLst>
            <a:outerShdw blurRad="63500" dist="25400" dir="5400000" algn="bl" rotWithShape="0">
              <a:srgbClr val="9AAFD1">
                <a:alpha val="30000"/>
              </a:srgbClr>
            </a:outerShdw>
          </a:effectLst>
        </p:spPr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46D6DF65-1317-7EBC-0F59-657AD4A93B86}"/>
              </a:ext>
            </a:extLst>
          </p:cNvPr>
          <p:cNvSpPr/>
          <p:nvPr/>
        </p:nvSpPr>
        <p:spPr>
          <a:xfrm>
            <a:off x="9866376" y="30175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1AE1D789-0000-3FDA-7AEB-125CFAF80651}"/>
              </a:ext>
            </a:extLst>
          </p:cNvPr>
          <p:cNvSpPr/>
          <p:nvPr/>
        </p:nvSpPr>
        <p:spPr>
          <a:xfrm>
            <a:off x="9866376" y="356616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departs &amp; lands — auto-completed by background worker</a:t>
            </a:r>
            <a:endParaRPr lang="en-US" sz="950" dirty="0"/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658CD4E7-640E-DE7B-BE1C-58EB00FED649}"/>
              </a:ext>
            </a:extLst>
          </p:cNvPr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6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MANAGEMENT SYSTEM</a:t>
            </a:r>
            <a:endParaRPr lang="en-US" sz="900" dirty="0"/>
          </a:p>
        </p:txBody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9B67284B-2C44-02D7-63C4-1F688995B5A5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00518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778</Words>
  <Application>Microsoft Office PowerPoint</Application>
  <PresentationFormat>Widescreen</PresentationFormat>
  <Paragraphs>170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-apple-system</vt:lpstr>
      <vt:lpstr>Arial</vt:lpstr>
      <vt:lpstr>Calibri</vt:lpstr>
      <vt:lpstr>Calibri Light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Kumar</dc:creator>
  <cp:lastModifiedBy>Sandeep Kumar</cp:lastModifiedBy>
  <cp:revision>18</cp:revision>
  <dcterms:created xsi:type="dcterms:W3CDTF">2026-08-18T11:30:00Z</dcterms:created>
  <dcterms:modified xsi:type="dcterms:W3CDTF">2026-08-21T00:18:35Z</dcterms:modified>
</cp:coreProperties>
</file>